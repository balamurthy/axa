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F344E"/>
                </a:solidFill>
              </a:defRPr>
            </a:pPr>
            <a:r>
              <a:t>Introduction to Programming</a:t>
            </a:r>
          </a:p>
          <a:p>
            <a:pPr>
              <a:defRPr sz="2200">
                <a:solidFill>
                  <a:srgbClr val="283038"/>
                </a:solidFill>
              </a:defRPr>
            </a:pPr>
            <a:r>
              <a:t>From problem solving to writing your first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417320"/>
            <a:ext cx="3474720" cy="2240280"/>
          </a:xfrm>
          <a:prstGeom prst="round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59" y="1600200"/>
            <a:ext cx="3108960" cy="1645920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94192" y="1856232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D7DBE"/>
                </a:solidFill>
              </a:defRPr>
            </a:pPr>
            <a:r>
              <a:t>&lt;  code  /&gt;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9098280" y="3657600"/>
            <a:ext cx="1188720" cy="228600"/>
          </a:xfrm>
          <a:prstGeom prst="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64040" y="3886200"/>
            <a:ext cx="457200" cy="411480"/>
          </a:xfrm>
          <a:prstGeom prst="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D7DBE"/>
                </a:solidFill>
              </a:defRPr>
            </a:pPr>
            <a:r>
              <a:t>Beginner-friendly • Concepts • Examples • Visuals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What is Programming?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8"/>
                </a:solidFill>
              </a:defRPr>
            </a:pPr>
            <a:r>
              <a:t>Programming is the process of giving a computer precise instructions.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83038"/>
                </a:solidFill>
              </a:defRPr>
            </a:pPr>
            <a:r>
              <a:t>A program is a set of instructions a computer can execute.</a:t>
            </a:r>
          </a:p>
          <a:p>
            <a:pPr>
              <a:spcAft>
                <a:spcPts val="1200"/>
              </a:spcAft>
              <a:defRPr sz="2000" b="0">
                <a:solidFill>
                  <a:srgbClr val="283038"/>
                </a:solidFill>
              </a:defRPr>
            </a:pPr>
            <a:r>
              <a:t>Programming turns a real-world problem into a logical solution.</a:t>
            </a:r>
          </a:p>
          <a:p>
            <a:pPr>
              <a:spcAft>
                <a:spcPts val="1200"/>
              </a:spcAft>
              <a:defRPr sz="2000" b="0">
                <a:solidFill>
                  <a:srgbClr val="283038"/>
                </a:solidFill>
              </a:defRPr>
            </a:pPr>
            <a:r>
              <a:t>Instructions are written using a programming language.</a:t>
            </a:r>
          </a:p>
          <a:p>
            <a:pPr>
              <a:spcAft>
                <a:spcPts val="1200"/>
              </a:spcAft>
              <a:defRPr sz="2000" b="0">
                <a:solidFill>
                  <a:srgbClr val="283038"/>
                </a:solidFill>
              </a:defRPr>
            </a:pPr>
            <a:r>
              <a:t>Good programs are clear, correct, maintainable and reusable.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600200"/>
            <a:ext cx="3749039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43800" y="1600200"/>
            <a:ext cx="73152" cy="114300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764792"/>
            <a:ext cx="33375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86000"/>
            <a:ext cx="3337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What do we want the computer to do?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971800"/>
            <a:ext cx="3749039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43800" y="2971800"/>
            <a:ext cx="73152" cy="114300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3136392"/>
            <a:ext cx="33375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657600"/>
            <a:ext cx="3337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What steps will solve 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343400"/>
            <a:ext cx="3749039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4343400"/>
            <a:ext cx="73152" cy="114300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4507992"/>
            <a:ext cx="33375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029200"/>
            <a:ext cx="3337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How do we express those steps?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Why Learn Programming?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498348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73152" cy="160020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73351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Automate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Let computers perform repetitive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508760"/>
            <a:ext cx="498348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59" y="1508760"/>
            <a:ext cx="73152" cy="160020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1673351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Build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194560"/>
            <a:ext cx="4572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Create websites, apps, APIs and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66160"/>
            <a:ext cx="498348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566160"/>
            <a:ext cx="73152" cy="160020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730752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Solve 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60"/>
            <a:ext cx="4572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Break complex problems into manageable steps.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566160"/>
            <a:ext cx="498348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3566160"/>
            <a:ext cx="73152" cy="160020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3730752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Think logically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251960"/>
            <a:ext cx="4572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Develop structured, analytical thinking.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How a Program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8"/>
                </a:solidFill>
              </a:defRPr>
            </a:pPr>
            <a:r>
              <a:t>A simple model: input → processing →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246888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08483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Input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39312" y="2139696"/>
            <a:ext cx="365760" cy="365760"/>
          </a:xfrm>
          <a:prstGeom prst="rightArrow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69080" y="1828800"/>
            <a:ext cx="246888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60520" y="208483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Process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11112" y="2139696"/>
            <a:ext cx="365760" cy="365760"/>
          </a:xfrm>
          <a:prstGeom prst="rightArrow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40880" y="1828800"/>
            <a:ext cx="246888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0" y="208483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337560"/>
            <a:ext cx="2743200" cy="13716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3000" y="3337560"/>
            <a:ext cx="73152" cy="137160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3502152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02336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User enters age = 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337560"/>
            <a:ext cx="2743200" cy="13716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17720" y="3337560"/>
            <a:ext cx="73152" cy="137160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3502152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02336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Check whether age ≥ 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337560"/>
            <a:ext cx="2743200" cy="13716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3337560"/>
            <a:ext cx="73152" cy="137160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3502152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02336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Display: Eligible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Programming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8"/>
                </a:solidFill>
              </a:defRPr>
            </a:pPr>
            <a:r>
              <a:t>Different languages provide different ways to express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173736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Easy to learn • AI •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73736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0312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Enterprise • Android •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41732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1417320"/>
            <a:ext cx="73152" cy="173736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581912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Web pages • Web apps • Node.js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5760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657600"/>
            <a:ext cx="73152" cy="173736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822191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C#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Microsoft ecosystem • .NET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657600"/>
            <a:ext cx="73152" cy="173736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822191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C/C++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34340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Systems • Embedded • Performance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65760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80" y="3657600"/>
            <a:ext cx="73152" cy="173736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3822191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TypeScript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4340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JavaScript + static typing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Core Building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73152" cy="173736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81912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Store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173736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81912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Data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Define kinds of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1732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80" y="1417320"/>
            <a:ext cx="73152" cy="173736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581912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Operators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Perform calculations/comparisons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5760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657600"/>
            <a:ext cx="73152" cy="173736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822191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Make decisions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65760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657600"/>
            <a:ext cx="73152" cy="173736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3822191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Repeat 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657600"/>
            <a:ext cx="3337560" cy="17373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80" y="3657600"/>
            <a:ext cx="73152" cy="173736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822191"/>
            <a:ext cx="2926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343400"/>
            <a:ext cx="2926079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Reuse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Variables and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8"/>
                </a:solidFill>
              </a:defRPr>
            </a:pPr>
            <a:r>
              <a:t>Variables give names to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657600" cy="123444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23444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name = "Bala"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3657600" cy="123444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971800"/>
            <a:ext cx="73152" cy="123444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age = 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34840"/>
            <a:ext cx="3657600" cy="123444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4434840"/>
            <a:ext cx="73152" cy="123444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599431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Boolean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isValid = true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554480"/>
            <a:ext cx="539496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17373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73736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3038"/>
                </a:solidFill>
              </a:defRPr>
            </a:pPr>
            <a:r>
              <a:t>Bala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971800"/>
            <a:ext cx="539496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4A9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9240" y="3154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546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3038"/>
                </a:solidFill>
              </a:defRPr>
            </a:pPr>
            <a:r>
              <a:t>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4389120"/>
            <a:ext cx="5394960" cy="1051560"/>
          </a:xfrm>
          <a:prstGeom prst="roundRect">
            <a:avLst/>
          </a:prstGeom>
          <a:solidFill>
            <a:srgbClr val="F2F7FC"/>
          </a:solidFill>
          <a:ln>
            <a:solidFill>
              <a:srgbClr val="E89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49240" y="45720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isValid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572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3038"/>
                </a:solidFill>
              </a:defRPr>
            </a:pPr>
            <a:r>
              <a:t>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Decision Making with if /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8"/>
                </a:solidFill>
              </a:defRPr>
            </a:pPr>
            <a:r>
              <a:t>Programs can choose different actions based on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123444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23444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Is age &gt;= 18?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4754880" cy="123444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73152" cy="123444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22783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If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49039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Display "Eligible"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4754880" cy="123444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73152" cy="123444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736592"/>
            <a:ext cx="4343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If FALSE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57800"/>
            <a:ext cx="4343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Display "Not eligible"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240280"/>
            <a:ext cx="182880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2496312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Condition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982712" y="2551176"/>
            <a:ext cx="365760" cy="365760"/>
          </a:xfrm>
          <a:prstGeom prst="rightArrow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80" y="2240280"/>
            <a:ext cx="182880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19" y="2496312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TRUE → Action 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314432" y="2551176"/>
            <a:ext cx="365760" cy="365760"/>
          </a:xfrm>
          <a:prstGeom prst="rightArrow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744200" y="2240280"/>
            <a:ext cx="182880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35640" y="2496312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FALSE → Action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Loops: Repeating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8"/>
                </a:solidFill>
              </a:defRPr>
            </a:pPr>
            <a:r>
              <a:t>Loops prevent us from writing the same instruction again and again.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Start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16352" y="1956816"/>
            <a:ext cx="365760" cy="365760"/>
          </a:xfrm>
          <a:prstGeom prst="rightArrow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46120" y="1645920"/>
            <a:ext cx="201168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9019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Check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30952" y="1956816"/>
            <a:ext cx="365760" cy="365760"/>
          </a:xfrm>
          <a:prstGeom prst="rightArrow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60720" y="1645920"/>
            <a:ext cx="201168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59" y="19019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Run action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45552" y="1956816"/>
            <a:ext cx="365760" cy="365760"/>
          </a:xfrm>
          <a:prstGeom prst="rightArrow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75320" y="1645920"/>
            <a:ext cx="201168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9019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Repeat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46120"/>
            <a:ext cx="438912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3246120"/>
            <a:ext cx="73152" cy="150876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410712"/>
            <a:ext cx="39776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31920"/>
            <a:ext cx="3977639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Print numbers 1 to 5 without writing five separate print statements.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246120"/>
            <a:ext cx="4572000" cy="15087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0" y="3246120"/>
            <a:ext cx="73152" cy="150876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3410712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Common 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931920"/>
            <a:ext cx="4160520" cy="685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for • while • do...while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8"/>
                </a:solidFill>
              </a:defRPr>
            </a:pPr>
            <a:r>
              <a:t>A function is a reusable block of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00400" cy="12801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28016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78892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Two numbers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200400" cy="12801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554480"/>
            <a:ext cx="73152" cy="128016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719072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240280"/>
            <a:ext cx="278892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add(a, 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200400" cy="128016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73152" cy="128016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719072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40280"/>
            <a:ext cx="278892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Sum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657600"/>
            <a:ext cx="246888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0240" y="391363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Call function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370832" y="3968496"/>
            <a:ext cx="365760" cy="365760"/>
          </a:xfrm>
          <a:prstGeom prst="rightArrow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800600" y="3657600"/>
            <a:ext cx="246888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391363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Execute logic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342631" y="3968496"/>
            <a:ext cx="365760" cy="365760"/>
          </a:xfrm>
          <a:prstGeom prst="rightArrow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0" y="3657600"/>
            <a:ext cx="2468880" cy="1005840"/>
          </a:xfrm>
          <a:prstGeom prst="roundRect">
            <a:avLst/>
          </a:prstGeom>
          <a:solidFill>
            <a:srgbClr val="F2F7FC"/>
          </a:solidFill>
          <a:ln>
            <a:solidFill>
              <a:srgbClr val="3D7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3913632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344E"/>
                </a:solidFill>
              </a:defRPr>
            </a:pPr>
            <a:r>
              <a:t>Return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From Problem to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8"/>
                </a:solidFill>
              </a:defRPr>
            </a:pPr>
            <a:r>
              <a:t>A repeatable problem-solving process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371600"/>
            <a:ext cx="594360" cy="594360"/>
          </a:xfrm>
          <a:prstGeom prst="ellipse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325880"/>
            <a:ext cx="288036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1325880"/>
            <a:ext cx="73152" cy="160020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1490472"/>
            <a:ext cx="2468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11680"/>
            <a:ext cx="24688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Clarify the requirement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0" y="1371600"/>
            <a:ext cx="594360" cy="594360"/>
          </a:xfrm>
          <a:prstGeom prst="ellipse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44475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325880"/>
            <a:ext cx="288036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66360" y="1325880"/>
            <a:ext cx="73152" cy="160020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60" y="1490472"/>
            <a:ext cx="2468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011680"/>
            <a:ext cx="24688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Identify inputs and outputs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1371600"/>
            <a:ext cx="594360" cy="594360"/>
          </a:xfrm>
          <a:prstGeom prst="ellipse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144475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325880"/>
            <a:ext cx="288036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61120" y="1325880"/>
            <a:ext cx="73152" cy="160020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1490472"/>
            <a:ext cx="2468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011680"/>
            <a:ext cx="24688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Create logic / algorithm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" y="3703320"/>
            <a:ext cx="594360" cy="594360"/>
          </a:xfrm>
          <a:prstGeom prst="ellipse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77647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3657600"/>
            <a:ext cx="288036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371600" y="3657600"/>
            <a:ext cx="73152" cy="160020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00200" y="3822191"/>
            <a:ext cx="2468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343400"/>
            <a:ext cx="24688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Write the program</a:t>
            </a:r>
          </a:p>
        </p:txBody>
      </p:sp>
      <p:sp>
        <p:nvSpPr>
          <p:cNvPr id="29" name="Oval 28"/>
          <p:cNvSpPr/>
          <p:nvPr/>
        </p:nvSpPr>
        <p:spPr>
          <a:xfrm>
            <a:off x="4389120" y="3703320"/>
            <a:ext cx="594360" cy="594360"/>
          </a:xfrm>
          <a:prstGeom prst="ellipse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0" y="377647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3657600"/>
            <a:ext cx="288036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166360" y="3657600"/>
            <a:ext cx="73152" cy="160020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94960" y="3822191"/>
            <a:ext cx="2468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343400"/>
            <a:ext cx="24688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Check expected vs actual</a:t>
            </a:r>
          </a:p>
        </p:txBody>
      </p:sp>
      <p:sp>
        <p:nvSpPr>
          <p:cNvPr id="35" name="Oval 34"/>
          <p:cNvSpPr/>
          <p:nvPr/>
        </p:nvSpPr>
        <p:spPr>
          <a:xfrm>
            <a:off x="8183880" y="3703320"/>
            <a:ext cx="594360" cy="594360"/>
          </a:xfrm>
          <a:prstGeom prst="ellipse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80" y="3776472"/>
            <a:ext cx="594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3657600"/>
            <a:ext cx="2880360" cy="16002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3657600"/>
            <a:ext cx="73152" cy="160020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89720" y="3822191"/>
            <a:ext cx="2468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Improve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343400"/>
            <a:ext cx="2468879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Fix, refactor and maintain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Example: A Simple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8"/>
                </a:solidFill>
              </a:defRPr>
            </a:pPr>
            <a:r>
              <a:t>Let's translate a requirement into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20640" cy="109728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09728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09159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Ask the user for a number and say whether it is even or odd.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5120640" cy="109728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743200"/>
            <a:ext cx="73152" cy="109728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4709159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If number % 2 == 0 → Even; otherwise → Odd.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69080"/>
            <a:ext cx="5120640" cy="109728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4069080"/>
            <a:ext cx="73152" cy="109728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233672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Key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4709159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The % operator gives the remainder.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17320"/>
            <a:ext cx="5166360" cy="4297680"/>
          </a:xfrm>
          <a:prstGeom prst="roundRect">
            <a:avLst/>
          </a:prstGeom>
          <a:solidFill>
            <a:srgbClr val="1C2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45262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t>number = 7</a:t>
            </a:r>
            <a:br/>
            <a:br/>
            <a:r>
              <a:t>if number % 2 == 0:</a:t>
            </a:r>
            <a:br/>
            <a:r>
              <a:t>    print("Even")</a:t>
            </a:r>
            <a:br/>
            <a:r>
              <a:t>else:</a:t>
            </a:r>
            <a:br/>
            <a:r>
              <a:t>    print("Odd")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Programming and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8"/>
                </a:solidFill>
              </a:defRPr>
            </a:pPr>
            <a:r>
              <a:t>Programming knowledge makes automation and testing more powerful.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83038"/>
                </a:solidFill>
              </a:defRPr>
            </a:pPr>
            <a:r>
              <a:t>Understand what the application is doing behind the UI.</a:t>
            </a:r>
          </a:p>
          <a:p>
            <a:pPr>
              <a:spcAft>
                <a:spcPts val="1200"/>
              </a:spcAft>
              <a:defRPr sz="1900" b="0">
                <a:solidFill>
                  <a:srgbClr val="283038"/>
                </a:solidFill>
              </a:defRPr>
            </a:pPr>
            <a:r>
              <a:t>Write better test data, conditions and validations.</a:t>
            </a:r>
          </a:p>
          <a:p>
            <a:pPr>
              <a:spcAft>
                <a:spcPts val="1200"/>
              </a:spcAft>
              <a:defRPr sz="1900" b="0">
                <a:solidFill>
                  <a:srgbClr val="283038"/>
                </a:solidFill>
              </a:defRPr>
            </a:pPr>
            <a:r>
              <a:t>Read and debug automation code confidently.</a:t>
            </a:r>
          </a:p>
          <a:p>
            <a:pPr>
              <a:spcAft>
                <a:spcPts val="1200"/>
              </a:spcAft>
              <a:defRPr sz="1900" b="0">
                <a:solidFill>
                  <a:srgbClr val="283038"/>
                </a:solidFill>
              </a:defRPr>
            </a:pPr>
            <a:r>
              <a:t>Work with APIs, databases, files and test frameworks.</a:t>
            </a:r>
          </a:p>
          <a:p>
            <a:pPr>
              <a:spcAft>
                <a:spcPts val="1200"/>
              </a:spcAft>
              <a:defRPr sz="1900" b="0">
                <a:solidFill>
                  <a:srgbClr val="283038"/>
                </a:solidFill>
              </a:defRPr>
            </a:pPr>
            <a:r>
              <a:t>Move toward automation engineering and quality engineering.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600200"/>
            <a:ext cx="347472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18120" y="1600200"/>
            <a:ext cx="73152" cy="1143000"/>
          </a:xfrm>
          <a:prstGeom prst="rect">
            <a:avLst/>
          </a:prstGeom>
          <a:solidFill>
            <a:srgbClr val="3D7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1764792"/>
            <a:ext cx="30632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UI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286000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Playwright • Selenium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017520"/>
            <a:ext cx="347472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18120" y="3017520"/>
            <a:ext cx="73152" cy="1143000"/>
          </a:xfrm>
          <a:prstGeom prst="rect">
            <a:avLst/>
          </a:prstGeom>
          <a:solidFill>
            <a:srgbClr val="4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3182112"/>
            <a:ext cx="30632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API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703320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REST • JSON • HTTP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434840"/>
            <a:ext cx="3474720" cy="1143000"/>
          </a:xfrm>
          <a:prstGeom prst="roundRect">
            <a:avLst/>
          </a:prstGeom>
          <a:solidFill>
            <a:srgbClr val="F2F7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4434840"/>
            <a:ext cx="73152" cy="1143000"/>
          </a:xfrm>
          <a:prstGeom prst="rect">
            <a:avLst/>
          </a:prstGeom>
          <a:solidFill>
            <a:srgbClr val="E89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4599431"/>
            <a:ext cx="30632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344E"/>
                </a:solidFill>
              </a:defRPr>
            </a:pPr>
            <a:r>
              <a:t>Data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120640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8"/>
                </a:solidFill>
              </a:defRPr>
            </a:pPr>
            <a:r>
              <a:t>SQL • Files • Databases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344E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83038"/>
                </a:solidFill>
              </a:defRPr>
            </a:pPr>
            <a:r>
              <a:t>Programming is a way of thinking as much as a way of writing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83038"/>
                </a:solidFill>
              </a:defRPr>
            </a:pPr>
            <a:r>
              <a:t>Start with the problem, not the programming language.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8"/>
                </a:solidFill>
              </a:defRPr>
            </a:pPr>
            <a:r>
              <a:t>Learn variables, conditions, loops and functions first.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8"/>
                </a:solidFill>
              </a:defRPr>
            </a:pPr>
            <a:r>
              <a:t>Practice by solving small problems every day.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8"/>
                </a:solidFill>
              </a:defRPr>
            </a:pPr>
            <a:r>
              <a:t>Read code written by others and debug it.</a:t>
            </a:r>
          </a:p>
          <a:p>
            <a:pPr>
              <a:spcAft>
                <a:spcPts val="1200"/>
              </a:spcAft>
              <a:defRPr sz="2100" b="0">
                <a:solidFill>
                  <a:srgbClr val="283038"/>
                </a:solidFill>
              </a:defRPr>
            </a:pPr>
            <a:r>
              <a:t>Build small projects to turn concepts into skills.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743200"/>
            <a:ext cx="2779776" cy="1792224"/>
          </a:xfrm>
          <a:prstGeom prst="round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75904" y="2889504"/>
            <a:ext cx="2487168" cy="1316736"/>
          </a:xfrm>
          <a:prstGeom prst="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80729" y="3094329"/>
            <a:ext cx="2121408" cy="877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20" b="1">
                <a:solidFill>
                  <a:srgbClr val="3D7DBE"/>
                </a:solidFill>
              </a:defRPr>
            </a:pPr>
            <a:r>
              <a:t>&lt;  code  /&gt;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4535424"/>
            <a:ext cx="950976" cy="182880"/>
          </a:xfrm>
          <a:prstGeom prst="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36608" y="4718304"/>
            <a:ext cx="365760" cy="329184"/>
          </a:xfrm>
          <a:prstGeom prst="rect">
            <a:avLst/>
          </a:prstGeom>
          <a:solidFill>
            <a:srgbClr val="1F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828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677</Words>
  <Application>Microsoft Office PowerPoint</Application>
  <PresentationFormat>Widescreen</PresentationFormat>
  <Paragraphs>172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 Murthy</cp:lastModifiedBy>
  <cp:revision>1</cp:revision>
  <dcterms:created xsi:type="dcterms:W3CDTF">2013-01-27T09:14:16Z</dcterms:created>
  <dcterms:modified xsi:type="dcterms:W3CDTF">2026-08-24T06:11:53Z</dcterms:modified>
  <cp:category/>
</cp:coreProperties>
</file>